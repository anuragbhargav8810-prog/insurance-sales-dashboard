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62" r:id="rId5"/>
    <p:sldId id="258" r:id="rId6"/>
    <p:sldId id="259" r:id="rId7"/>
    <p:sldId id="260" r:id="rId8"/>
    <p:sldId id="261" r:id="rId9"/>
    <p:sldId id="263" r:id="rId10"/>
    <p:sldId id="265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8D614D05-4B95-4DFD-9A70-2906F2F9E7A9}">
          <p14:sldIdLst>
            <p14:sldId id="256"/>
            <p14:sldId id="257"/>
            <p14:sldId id="262"/>
            <p14:sldId id="258"/>
            <p14:sldId id="259"/>
            <p14:sldId id="260"/>
            <p14:sldId id="261"/>
            <p14:sldId id="263"/>
            <p14:sldId id="265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6ECC"/>
    <a:srgbClr val="C04F15"/>
    <a:srgbClr val="FFFFFF"/>
    <a:srgbClr val="1E6626"/>
    <a:srgbClr val="404040"/>
    <a:srgbClr val="F6C6AD"/>
    <a:srgbClr val="0E28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9" d="100"/>
          <a:sy n="79" d="100"/>
        </p:scale>
        <p:origin x="850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package" Target="../embeddings/Workbook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2200" b="0" i="0" u="none" strike="noStrike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REGION</a:t>
            </a:r>
            <a:endParaRPr lang="en-IN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>
                <a:alpha val="88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  <a:effectLst/>
            <a:scene3d>
              <a:camera prst="orthographicFront"/>
              <a:lightRig rig="threePt" dir="t"/>
            </a:scene3d>
            <a:sp3d prstMaterial="flat">
              <a:contourClr>
                <a:schemeClr val="accent1">
                  <a:lumMod val="50000"/>
                </a:schemeClr>
              </a:contourClr>
            </a:sp3d>
          </c:spPr>
          <c:invertIfNegative val="0"/>
          <c:dLbls>
            <c:spPr>
              <a:solidFill>
                <a:schemeClr val="accent1">
                  <a:alpha val="30000"/>
                </a:schemeClr>
              </a:solidFill>
              <a:ln>
                <a:solidFill>
                  <a:schemeClr val="lt1">
                    <a:alpha val="50000"/>
                  </a:schemeClr>
                </a:solidFill>
                <a:round/>
              </a:ln>
              <a:effectLst>
                <a:outerShdw blurRad="63500" dist="889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northeast</c:v>
                </c:pt>
                <c:pt idx="1">
                  <c:v>northwest</c:v>
                </c:pt>
                <c:pt idx="2">
                  <c:v>southeast</c:v>
                </c:pt>
                <c:pt idx="3">
                  <c:v>southwest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0.244633442015207</c:v>
                </c:pt>
                <c:pt idx="1">
                  <c:v>0.227289466901165</c:v>
                </c:pt>
                <c:pt idx="2">
                  <c:v>0.302080571647982</c:v>
                </c:pt>
                <c:pt idx="3">
                  <c:v>0.225996519435646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4"/>
        <c:axId val="1974888592"/>
        <c:axId val="1974886672"/>
      </c:barChart>
      <c:catAx>
        <c:axId val="19748885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800" b="1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74886672"/>
        <c:crosses val="autoZero"/>
        <c:auto val="1"/>
        <c:lblAlgn val="ctr"/>
        <c:lblOffset val="100"/>
        <c:noMultiLvlLbl val="0"/>
      </c:catAx>
      <c:valAx>
        <c:axId val="1974886672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74888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5ef3328-0b5a-4eeb-9ee2-95c678b940fc}"/>
      </c:ext>
    </c:extLst>
  </c:chart>
  <c:spPr>
    <a:solidFill>
      <a:schemeClr val="dk1">
        <a:lumMod val="75000"/>
        <a:lumOff val="25000"/>
      </a:schemeClr>
    </a:solidFill>
    <a:ln w="6350" cap="flat" cmpd="sng" algn="ctr">
      <a:solidFill>
        <a:schemeClr val="dk1">
          <a:tint val="7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>
                <a:solidFill>
                  <a:schemeClr val="bg2"/>
                </a:solidFill>
              </a:rPr>
              <a:t>MALE</a:t>
            </a:r>
            <a:r>
              <a:rPr lang="en-IN" baseline="0" dirty="0">
                <a:solidFill>
                  <a:schemeClr val="bg2"/>
                </a:solidFill>
              </a:rPr>
              <a:t> AND FEMALE</a:t>
            </a:r>
            <a:endParaRPr lang="en-IN" dirty="0">
              <a:solidFill>
                <a:schemeClr val="bg2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SEX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/>
            </c:spPr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0.51</c:v>
                </c:pt>
                <c:pt idx="1">
                  <c:v>0.49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0"/>
          <c:showBubbleSize val="0"/>
        </c:dLbls>
      </c:pie3DChart>
      <c:spPr>
        <a:noFill/>
        <a:ln>
          <a:noFill/>
        </a:ln>
        <a:effectLst/>
      </c:spPr>
    </c:plotArea>
    <c:legend>
      <c:legendPos val="r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195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895c742-29be-4be1-8345-8babfed7ff31}"/>
      </c:ext>
    </c:extLst>
  </c:chart>
  <c:spPr>
    <a:solidFill>
      <a:srgbClr val="404040"/>
    </a:solidFill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2200" b="0" i="0" u="none" strike="noStrike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SMOKER</a:t>
            </a:r>
            <a:r>
              <a:rPr lang="en-US" baseline="0" dirty="0"/>
              <a:t> AND NON-SMOKER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1">
                <a:alpha val="88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  <a:effectLst/>
            <a:scene3d>
              <a:camera prst="orthographicFront"/>
              <a:lightRig rig="threePt" dir="t"/>
            </a:scene3d>
            <a:sp3d prstMaterial="flat">
              <a:contourClr>
                <a:schemeClr val="accent1">
                  <a:lumMod val="50000"/>
                </a:schemeClr>
              </a:contourClr>
            </a:sp3d>
          </c:spPr>
          <c:invertIfNegative val="0"/>
          <c:dLbls>
            <c:spPr>
              <a:solidFill>
                <a:schemeClr val="accent1">
                  <a:alpha val="30000"/>
                </a:schemeClr>
              </a:solidFill>
              <a:ln>
                <a:solidFill>
                  <a:schemeClr val="lt1">
                    <a:alpha val="50000"/>
                  </a:schemeClr>
                </a:solidFill>
                <a:round/>
              </a:ln>
              <a:effectLst>
                <a:outerShdw blurRad="63500" dist="889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195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NON-SMOKER</c:v>
                </c:pt>
                <c:pt idx="1">
                  <c:v>SMOKER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0.2</c:v>
                </c:pt>
                <c:pt idx="1">
                  <c:v>0.8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4"/>
        <c:axId val="58355279"/>
        <c:axId val="58354319"/>
      </c:barChart>
      <c:catAx>
        <c:axId val="583552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8354319"/>
        <c:crosses val="autoZero"/>
        <c:auto val="1"/>
        <c:lblAlgn val="ctr"/>
        <c:lblOffset val="100"/>
        <c:noMultiLvlLbl val="0"/>
      </c:catAx>
      <c:valAx>
        <c:axId val="58354319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8355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99dd1f4-0965-4e16-9d4b-7f6db2a88945}"/>
      </c:ext>
    </c:extLst>
  </c:chart>
  <c:spPr>
    <a:solidFill>
      <a:schemeClr val="dk1">
        <a:lumMod val="75000"/>
        <a:lumOff val="25000"/>
      </a:schemeClr>
    </a:solidFill>
    <a:ln w="6350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pattFill prst="ltDnDiag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solidFill>
                <a:schemeClr val="accent1"/>
              </a:solidFill>
            </a:ln>
            <a:effectLst/>
            <a:sp3d>
              <a:contourClr>
                <a:schemeClr val="accent1"/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northeast</c:v>
                </c:pt>
                <c:pt idx="1">
                  <c:v>northwest</c:v>
                </c:pt>
                <c:pt idx="2">
                  <c:v>southeast</c:v>
                </c:pt>
                <c:pt idx="3">
                  <c:v>southwest</c:v>
                </c:pt>
              </c:strCache>
            </c:strRef>
          </c:cat>
          <c:val>
            <c:numRef>
              <c:f>Sheet1!$B$2:$B$5</c:f>
              <c:numCache>
                <c:formatCode>_ "₹"\ * #,##0_ ;_ "₹"\ * \-#,##0_ ;_ "₹"\ * "-"??_ ;_ @_ </c:formatCode>
                <c:ptCount val="4"/>
                <c:pt idx="0">
                  <c:v>4343668.583309</c:v>
                </c:pt>
                <c:pt idx="1">
                  <c:v>4035711.99654</c:v>
                </c:pt>
                <c:pt idx="2">
                  <c:v>5363689.76329</c:v>
                </c:pt>
                <c:pt idx="3">
                  <c:v>4012754.64762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60"/>
        <c:axId val="2118364143"/>
        <c:axId val="2118362703"/>
      </c:barChart>
      <c:catAx>
        <c:axId val="21183641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118362703"/>
        <c:crosses val="autoZero"/>
        <c:auto val="1"/>
        <c:lblAlgn val="ctr"/>
        <c:lblOffset val="100"/>
        <c:noMultiLvlLbl val="0"/>
      </c:catAx>
      <c:valAx>
        <c:axId val="2118362703"/>
        <c:scaling>
          <c:orientation val="minMax"/>
        </c:scaling>
        <c:delete val="0"/>
        <c:axPos val="l"/>
        <c:numFmt formatCode="_ &quot;₹&quot;\ * #,##0_ ;_ &quot;₹&quot;\ * \-#,##0_ ;_ &quot;₹&quot;\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1183641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52cfc2a-1450-49ec-9cc2-060ccc678999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NON-SMOKER</c:v>
                </c:pt>
              </c:strCache>
            </c:strRef>
          </c:tx>
          <c:spPr>
            <a:pattFill prst="ltDnDiag">
              <a:fgClr>
                <a:schemeClr val="accent6"/>
              </a:fgClr>
              <a:bgClr>
                <a:schemeClr val="accent6">
                  <a:lumMod val="20000"/>
                  <a:lumOff val="80000"/>
                </a:schemeClr>
              </a:bgClr>
            </a:pattFill>
            <a:ln>
              <a:solidFill>
                <a:schemeClr val="accent6"/>
              </a:solidFill>
            </a:ln>
            <a:effectLst/>
            <a:sp3d>
              <a:contourClr>
                <a:schemeClr val="accent6"/>
              </a:contourClr>
            </a:sp3d>
          </c:spPr>
          <c:invertIfNegative val="0"/>
          <c:dLbls>
            <c:dLbl>
              <c:idx val="0"/>
              <c:layout>
                <c:manualLayout>
                  <c:x val="-0.015496520095753"/>
                  <c:y val="7.63748262779683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167878967703992"/>
                  <c:y val="-0.00416594773998975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167878967703991"/>
                  <c:y val="-0.01666379095995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297016635168601"/>
                  <c:y val="-0.016663790959959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northeast</c:v>
                </c:pt>
                <c:pt idx="1">
                  <c:v>northwest</c:v>
                </c:pt>
                <c:pt idx="2">
                  <c:v>southeast</c:v>
                </c:pt>
                <c:pt idx="3">
                  <c:v>southwest</c:v>
                </c:pt>
              </c:strCache>
            </c:strRef>
          </c:cat>
          <c:val>
            <c:numRef>
              <c:f>Sheet1!$B$2:$B$5</c:f>
              <c:numCache>
                <c:formatCode>_ "₹"\ * #,##0_ ;_ "₹"\ * \-#,##0_ ;_ "₹"\ * "-"??_ ;_ @_ </c:formatCode>
                <c:ptCount val="4"/>
                <c:pt idx="0">
                  <c:v>8664.0422224</c:v>
                </c:pt>
                <c:pt idx="1">
                  <c:v>8320.68932075757</c:v>
                </c:pt>
                <c:pt idx="2">
                  <c:v>7609.00358671642</c:v>
                </c:pt>
                <c:pt idx="3">
                  <c:v>7778.90553420635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SMOKER</c:v>
                </c:pt>
              </c:strCache>
            </c:strRef>
          </c:tx>
          <c:spPr>
            <a:pattFill prst="ltDnDiag">
              <a:fgClr>
                <a:schemeClr val="accent5"/>
              </a:fgClr>
              <a:bgClr>
                <a:schemeClr val="accent5">
                  <a:lumMod val="20000"/>
                  <a:lumOff val="80000"/>
                </a:schemeClr>
              </a:bgClr>
            </a:pattFill>
            <a:ln>
              <a:solidFill>
                <a:schemeClr val="accent5"/>
              </a:solidFill>
            </a:ln>
            <a:effectLst/>
            <a:sp3d>
              <a:contourClr>
                <a:schemeClr val="accent5"/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northeast</c:v>
                </c:pt>
                <c:pt idx="1">
                  <c:v>northwest</c:v>
                </c:pt>
                <c:pt idx="2">
                  <c:v>southeast</c:v>
                </c:pt>
                <c:pt idx="3">
                  <c:v>southwest</c:v>
                </c:pt>
              </c:strCache>
            </c:strRef>
          </c:cat>
          <c:val>
            <c:numRef>
              <c:f>Sheet1!$C$2:$C$5</c:f>
              <c:numCache>
                <c:formatCode>_ "₹"\ * #,##0_ ;_ "₹"\ * \-#,##0_ ;_ "₹"\ * "-"??_ ;_ @_ </c:formatCode>
                <c:ptCount val="4"/>
                <c:pt idx="0">
                  <c:v>30926.2525828947</c:v>
                </c:pt>
                <c:pt idx="1">
                  <c:v>30713.1814193103</c:v>
                </c:pt>
                <c:pt idx="2">
                  <c:v>36029.8393665455</c:v>
                </c:pt>
                <c:pt idx="3">
                  <c:v>32598.8628540541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60"/>
        <c:axId val="1907550943"/>
        <c:axId val="1907551903"/>
      </c:barChart>
      <c:catAx>
        <c:axId val="1907550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07551903"/>
        <c:crosses val="autoZero"/>
        <c:auto val="1"/>
        <c:lblAlgn val="ctr"/>
        <c:lblOffset val="100"/>
        <c:noMultiLvlLbl val="0"/>
      </c:catAx>
      <c:valAx>
        <c:axId val="1907551903"/>
        <c:scaling>
          <c:orientation val="minMax"/>
        </c:scaling>
        <c:delete val="0"/>
        <c:axPos val="l"/>
        <c:numFmt formatCode="_ &quot;₹&quot;\ * #,##0_ ;_ &quot;₹&quot;\ * \-#,##0_ ;_ &quot;₹&quot;\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9075509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85745296185883"/>
          <c:y val="0.0249956864399385"/>
          <c:w val="0.312448789797026"/>
          <c:h val="0.18106816212162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4c13819-dc3a-4515-a27f-c667f3d40203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NON-SMOKER</c:v>
                </c:pt>
              </c:strCache>
            </c:strRef>
          </c:tx>
          <c:spPr>
            <a:pattFill prst="ltDnDiag">
              <a:fgClr>
                <a:schemeClr val="accent6"/>
              </a:fgClr>
              <a:bgClr>
                <a:schemeClr val="accent6">
                  <a:lumMod val="20000"/>
                  <a:lumOff val="80000"/>
                </a:schemeClr>
              </a:bgClr>
            </a:pattFill>
            <a:ln>
              <a:solidFill>
                <a:schemeClr val="accent6"/>
              </a:solidFill>
            </a:ln>
            <a:effectLst/>
            <a:sp3d>
              <a:contourClr>
                <a:schemeClr val="accent6"/>
              </a:contourClr>
            </a:sp3d>
          </c:spPr>
          <c:invertIfNegative val="0"/>
          <c:dLbls>
            <c:dLbl>
              <c:idx val="0"/>
              <c:layout>
                <c:manualLayout>
                  <c:x val="-0.0151052550825615"/>
                  <c:y val="-0.015142383113023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109856400600447"/>
                  <c:y val="0.0075711915565117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151052550825615"/>
                  <c:y val="0.003785595778255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274641001501119"/>
                  <c:y val="-6.94017875326529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northeast</c:v>
                </c:pt>
                <c:pt idx="1">
                  <c:v>northwest</c:v>
                </c:pt>
                <c:pt idx="2">
                  <c:v>southeast</c:v>
                </c:pt>
                <c:pt idx="3">
                  <c:v>southwest</c:v>
                </c:pt>
              </c:strCache>
            </c:strRef>
          </c:cat>
          <c:val>
            <c:numRef>
              <c:f>Sheet1!$B$2:$B$5</c:f>
              <c:numCache>
                <c:formatCode>_ "₹"\ * #,##0_ ;_ "₹"\ * \-#,##0_ ;_ "₹"\ * "-"??_ ;_ @_ </c:formatCode>
                <c:ptCount val="4"/>
                <c:pt idx="0">
                  <c:v>9640.42698355303</c:v>
                </c:pt>
                <c:pt idx="1">
                  <c:v>8786.99867866667</c:v>
                </c:pt>
                <c:pt idx="2">
                  <c:v>8440.20555194244</c:v>
                </c:pt>
                <c:pt idx="3">
                  <c:v>8234.09126014185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SMOKER</c:v>
                </c:pt>
              </c:strCache>
            </c:strRef>
          </c:tx>
          <c:spPr>
            <a:pattFill prst="ltDnDiag">
              <a:fgClr>
                <a:schemeClr val="accent5"/>
              </a:fgClr>
              <a:bgClr>
                <a:schemeClr val="accent5">
                  <a:lumMod val="20000"/>
                  <a:lumOff val="80000"/>
                </a:schemeClr>
              </a:bgClr>
            </a:pattFill>
            <a:ln>
              <a:solidFill>
                <a:schemeClr val="accent5"/>
              </a:solidFill>
            </a:ln>
            <a:effectLst/>
            <a:sp3d>
              <a:contourClr>
                <a:schemeClr val="accent5"/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northeast</c:v>
                </c:pt>
                <c:pt idx="1">
                  <c:v>northwest</c:v>
                </c:pt>
                <c:pt idx="2">
                  <c:v>southeast</c:v>
                </c:pt>
                <c:pt idx="3">
                  <c:v>southwest</c:v>
                </c:pt>
              </c:strCache>
            </c:strRef>
          </c:cat>
          <c:val>
            <c:numRef>
              <c:f>Sheet1!$C$2:$C$5</c:f>
              <c:numCache>
                <c:formatCode>_ "₹"\ * #,##0_ ;_ "₹"\ * \-#,##0_ ;_ "₹"\ * "-"??_ ;_ @_ </c:formatCode>
                <c:ptCount val="4"/>
                <c:pt idx="0">
                  <c:v>28032.0463975862</c:v>
                </c:pt>
                <c:pt idx="1">
                  <c:v>29670.8249455172</c:v>
                </c:pt>
                <c:pt idx="2">
                  <c:v>33034.8207163889</c:v>
                </c:pt>
                <c:pt idx="3">
                  <c:v>31687.98843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60"/>
        <c:axId val="1331254319"/>
        <c:axId val="1191972783"/>
      </c:barChart>
      <c:catAx>
        <c:axId val="13312543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91972783"/>
        <c:crosses val="autoZero"/>
        <c:auto val="1"/>
        <c:lblAlgn val="ctr"/>
        <c:lblOffset val="100"/>
        <c:noMultiLvlLbl val="0"/>
      </c:catAx>
      <c:valAx>
        <c:axId val="1191972783"/>
        <c:scaling>
          <c:orientation val="minMax"/>
        </c:scaling>
        <c:delete val="0"/>
        <c:axPos val="l"/>
        <c:numFmt formatCode="_ &quot;₹&quot;\ * #,##0_ ;_ &quot;₹&quot;\ * \-#,##0_ ;_ &quot;₹&quot;\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3312543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11e5ad0-00ab-4e28-951b-1257217cba87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chemeClr val="accent5">
                <a:lumMod val="40000"/>
                <a:lumOff val="60000"/>
              </a:schemeClr>
            </a:solidFill>
            <a:ln w="9525" cap="flat" cmpd="sng" algn="ctr">
              <a:solidFill>
                <a:schemeClr val="dk1">
                  <a:tint val="88500"/>
                  <a:shade val="95000"/>
                </a:schemeClr>
              </a:solidFill>
              <a:round/>
            </a:ln>
            <a:effectLst/>
            <a:sp3d contourW="9525">
              <a:contourClr>
                <a:schemeClr val="dk1">
                  <a:tint val="88500"/>
                  <a:shade val="95000"/>
                </a:schemeClr>
              </a:contourClr>
            </a:sp3d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northeast</c:v>
                </c:pt>
                <c:pt idx="1">
                  <c:v>northwest</c:v>
                </c:pt>
                <c:pt idx="2">
                  <c:v>southeast</c:v>
                </c:pt>
                <c:pt idx="3">
                  <c:v>southwest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29.3243167701863</c:v>
                </c:pt>
                <c:pt idx="1">
                  <c:v>29.2779573170732</c:v>
                </c:pt>
                <c:pt idx="2">
                  <c:v>32.6712571428571</c:v>
                </c:pt>
                <c:pt idx="3">
                  <c:v>30.0604938271605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chemeClr val="tx2">
                <a:lumMod val="90000"/>
                <a:lumOff val="10000"/>
              </a:schemeClr>
            </a:solidFill>
            <a:ln w="9525" cap="flat" cmpd="sng" algn="ctr">
              <a:solidFill>
                <a:schemeClr val="dk1">
                  <a:tint val="55000"/>
                  <a:shade val="95000"/>
                </a:schemeClr>
              </a:solidFill>
              <a:round/>
            </a:ln>
            <a:effectLst/>
            <a:sp3d contourW="9525">
              <a:contourClr>
                <a:schemeClr val="dk1">
                  <a:tint val="55000"/>
                  <a:shade val="95000"/>
                </a:schemeClr>
              </a:contourClr>
            </a:sp3d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northeast</c:v>
                </c:pt>
                <c:pt idx="1">
                  <c:v>northwest</c:v>
                </c:pt>
                <c:pt idx="2">
                  <c:v>southeast</c:v>
                </c:pt>
                <c:pt idx="3">
                  <c:v>southwest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29.0245398773006</c:v>
                </c:pt>
                <c:pt idx="1">
                  <c:v>29.1201552795031</c:v>
                </c:pt>
                <c:pt idx="2">
                  <c:v>33.99</c:v>
                </c:pt>
                <c:pt idx="3">
                  <c:v>31.1294478527607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32318415"/>
        <c:axId val="332314095"/>
      </c:barChart>
      <c:catAx>
        <c:axId val="332318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32314095"/>
        <c:crosses val="autoZero"/>
        <c:auto val="1"/>
        <c:lblAlgn val="ctr"/>
        <c:lblOffset val="100"/>
        <c:noMultiLvlLbl val="0"/>
      </c:catAx>
      <c:valAx>
        <c:axId val="332314095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2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332318415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tx1">
                <a:lumMod val="15000"/>
                <a:lumOff val="8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>
              <a:defRPr lang="en-US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195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7471457-4ba9-4f12-93ce-183fc495d4a1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653592112617"/>
          <c:y val="0.128534599438927"/>
          <c:w val="0.887891530157275"/>
          <c:h val="0.7630816235367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 SMOKER</c:v>
                </c:pt>
              </c:strCache>
            </c:strRef>
          </c:tx>
          <c:spPr>
            <a:pattFill prst="ltDnDiag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solidFill>
                <a:schemeClr val="accent1"/>
              </a:solidFill>
            </a:ln>
            <a:effectLst/>
            <a:sp3d>
              <a:contourClr>
                <a:schemeClr val="accent1"/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northeast</c:v>
                </c:pt>
                <c:pt idx="1">
                  <c:v>northwest</c:v>
                </c:pt>
                <c:pt idx="2">
                  <c:v>southeast</c:v>
                </c:pt>
                <c:pt idx="3">
                  <c:v>southwest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9165.53167170817</c:v>
                </c:pt>
                <c:pt idx="1">
                  <c:v>8556.46371520599</c:v>
                </c:pt>
                <c:pt idx="2">
                  <c:v>8032.21630893773</c:v>
                </c:pt>
                <c:pt idx="3">
                  <c:v>8019.28451307116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SOMKER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northeast</c:v>
                </c:pt>
                <c:pt idx="1">
                  <c:v>northwest</c:v>
                </c:pt>
                <c:pt idx="2">
                  <c:v>southeast</c:v>
                </c:pt>
                <c:pt idx="3">
                  <c:v>southwest</c:v>
                </c:pt>
              </c:strCache>
            </c:strRef>
          </c:cat>
          <c:val>
            <c:numRef>
              <c:f>Sheet1!$C$2:$C$6</c:f>
              <c:numCache>
                <c:formatCode>0</c:formatCode>
                <c:ptCount val="5"/>
                <c:pt idx="0">
                  <c:v>29673.5364728358</c:v>
                </c:pt>
                <c:pt idx="1">
                  <c:v>30192.0031824138</c:v>
                </c:pt>
                <c:pt idx="2">
                  <c:v>34844.9968236264</c:v>
                </c:pt>
                <c:pt idx="3">
                  <c:v>32269.0634936207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40"/>
        <c:axId val="62564655"/>
        <c:axId val="61109759"/>
      </c:barChart>
      <c:catAx>
        <c:axId val="62564655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109759"/>
        <c:crosses val="autoZero"/>
        <c:auto val="1"/>
        <c:lblAlgn val="ctr"/>
        <c:lblOffset val="100"/>
        <c:noMultiLvlLbl val="0"/>
      </c:catAx>
      <c:valAx>
        <c:axId val="611097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25646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7dd841d-b260-4bd2-aa02-e84adf36c075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1">
  <cs:axisTitle>
    <cs:lnRef idx="0"/>
    <cs:fillRef idx="0"/>
    <cs:effectRef idx="0"/>
    <cs:fontRef idx="minor">
      <a:schemeClr val="lt1">
        <a:lumMod val="75000"/>
      </a:schemeClr>
    </cs:fontRef>
    <cs:defRPr sz="1195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5" kern="1200"/>
  </cs:categoryAxis>
  <cs:chartArea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6350" cap="flat" cmpd="sng" algn="ctr">
        <a:solidFill>
          <a:schemeClr val="dk1">
            <a:tint val="75000"/>
          </a:schemeClr>
        </a:solidFill>
        <a:round/>
      </a:ln>
    </cs:spPr>
    <cs:defRPr sz="133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30000"/>
        </a:schemeClr>
      </a:solidFill>
      <a:ln>
        <a:solidFill>
          <a:schemeClr val="lt1">
            <a:alpha val="50000"/>
          </a:schemeClr>
        </a:solidFill>
        <a:round/>
      </a:ln>
      <a:effectLst>
        <a:outerShdw blurRad="63500" dist="88900" dir="2700000" algn="tl" rotWithShape="0">
          <a:prstClr val="black">
            <a:alpha val="40000"/>
          </a:prstClr>
        </a:outerShdw>
      </a:effectLst>
    </cs:spPr>
    <cs:defRPr sz="1195" b="1" i="0" u="none" strike="noStrike" kern="1200" baseline="0"/>
  </cs:dataLabel>
  <cs:dataLabelCallout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30000"/>
        </a:schemeClr>
      </a:solidFill>
      <a:ln>
        <a:solidFill>
          <a:schemeClr val="lt1">
            <a:alpha val="50000"/>
          </a:schemeClr>
        </a:solidFill>
        <a:round/>
      </a:ln>
      <a:effectLst>
        <a:outerShdw blurRad="63500" dist="88900" dir="2700000" algn="tl" rotWithShape="0">
          <a:prstClr val="black">
            <a:alpha val="40000"/>
          </a:prstClr>
        </a:outerShdw>
      </a:effectLst>
    </cs:spPr>
    <cs:defRPr sz="1195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88000"/>
        </a:schemeClr>
      </a:solidFill>
      <a:ln>
        <a:solidFill>
          <a:schemeClr val="phClr">
            <a:lumMod val="50000"/>
          </a:schemeClr>
        </a:solidFill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88000"/>
        </a:schemeClr>
      </a:solidFill>
      <a:ln>
        <a:solidFill>
          <a:schemeClr val="phClr">
            <a:lumMod val="50000"/>
          </a:schemeClr>
        </a:solidFill>
      </a:ln>
      <a:scene3d>
        <a:camera prst="orthographicFront"/>
        <a:lightRig rig="threePt" dir="t"/>
      </a:scene3d>
      <a:sp3d prstMaterial="flat"/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dk1">
            <a:lumMod val="75000"/>
            <a:lumOff val="25000"/>
          </a:schemeClr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solidFill>
        <a:schemeClr val="bg2">
          <a:lumMod val="75000"/>
          <a:alpha val="27000"/>
        </a:schemeClr>
      </a:solidFill>
      <a:sp3d/>
    </cs:spPr>
  </cs:floor>
  <cs:gridlineMajor>
    <cs:lnRef idx="0"/>
    <cs:fillRef idx="0"/>
    <cs:effectRef idx="0"/>
    <cs:fontRef idx="minor">
      <a:schemeClr val="tx1"/>
    </cs:fontRef>
    <cs:spPr>
      <a:ln w="9525">
        <a:solidFill>
          <a:schemeClr val="lt1">
            <a:lumMod val="50000"/>
          </a:schemeClr>
        </a:solidFill>
      </a:ln>
    </cs:spPr>
  </cs:gridlineMajor>
  <cs:gridlineMinor>
    <cs:lnRef idx="0"/>
    <cs:fillRef idx="0"/>
    <cs:effectRef idx="0"/>
    <cs:fontRef idx="minor">
      <a:schemeClr val="tx1"/>
    </cs:fontRef>
    <cs:spPr>
      <a:ln w="9525">
        <a:solidFill>
          <a:schemeClr val="lt1">
            <a:lumMod val="40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5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/>
    </cs:fontRef>
    <cs:defRPr sz="2200" b="0" kern="1200" cap="all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sp3d/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5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5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5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91">
  <cs:axisTitle>
    <cs:lnRef idx="0"/>
    <cs:fillRef idx="0"/>
    <cs:effectRef idx="0"/>
    <cs:fontRef idx="minor">
      <a:schemeClr val="lt1">
        <a:lumMod val="75000"/>
      </a:schemeClr>
    </cs:fontRef>
    <cs:defRPr sz="1195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5" kern="1200"/>
  </cs:categoryAxis>
  <cs:chartArea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6350" cap="flat" cmpd="sng" algn="ctr">
        <a:solidFill>
          <a:schemeClr val="dk1">
            <a:tint val="75000"/>
          </a:schemeClr>
        </a:solidFill>
        <a:round/>
      </a:ln>
    </cs:spPr>
    <cs:defRPr sz="133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30000"/>
        </a:schemeClr>
      </a:solidFill>
      <a:ln>
        <a:solidFill>
          <a:schemeClr val="lt1">
            <a:alpha val="50000"/>
          </a:schemeClr>
        </a:solidFill>
        <a:round/>
      </a:ln>
      <a:effectLst>
        <a:outerShdw blurRad="63500" dist="88900" dir="2700000" algn="tl" rotWithShape="0">
          <a:prstClr val="black">
            <a:alpha val="40000"/>
          </a:prstClr>
        </a:outerShdw>
      </a:effectLst>
    </cs:spPr>
    <cs:defRPr sz="1195" b="1" i="0" u="none" strike="noStrike" kern="1200" baseline="0"/>
  </cs:dataLabel>
  <cs:dataLabelCallout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30000"/>
        </a:schemeClr>
      </a:solidFill>
      <a:ln>
        <a:solidFill>
          <a:schemeClr val="lt1">
            <a:alpha val="50000"/>
          </a:schemeClr>
        </a:solidFill>
        <a:round/>
      </a:ln>
      <a:effectLst>
        <a:outerShdw blurRad="63500" dist="88900" dir="2700000" algn="tl" rotWithShape="0">
          <a:prstClr val="black">
            <a:alpha val="40000"/>
          </a:prstClr>
        </a:outerShdw>
      </a:effectLst>
    </cs:spPr>
    <cs:defRPr sz="1195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88000"/>
        </a:schemeClr>
      </a:solidFill>
      <a:ln>
        <a:solidFill>
          <a:schemeClr val="phClr">
            <a:lumMod val="50000"/>
          </a:schemeClr>
        </a:solidFill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88000"/>
        </a:schemeClr>
      </a:solidFill>
      <a:ln>
        <a:solidFill>
          <a:schemeClr val="phClr">
            <a:lumMod val="50000"/>
          </a:schemeClr>
        </a:solidFill>
      </a:ln>
      <a:scene3d>
        <a:camera prst="orthographicFront"/>
        <a:lightRig rig="threePt" dir="t"/>
      </a:scene3d>
      <a:sp3d prstMaterial="flat"/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dk1">
            <a:lumMod val="75000"/>
            <a:lumOff val="25000"/>
          </a:schemeClr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solidFill>
        <a:schemeClr val="bg2">
          <a:lumMod val="75000"/>
          <a:alpha val="27000"/>
        </a:schemeClr>
      </a:solidFill>
      <a:sp3d/>
    </cs:spPr>
  </cs:floor>
  <cs:gridlineMajor>
    <cs:lnRef idx="0"/>
    <cs:fillRef idx="0"/>
    <cs:effectRef idx="0"/>
    <cs:fontRef idx="minor">
      <a:schemeClr val="tx1"/>
    </cs:fontRef>
    <cs:spPr>
      <a:ln w="9525">
        <a:solidFill>
          <a:schemeClr val="lt1">
            <a:lumMod val="50000"/>
          </a:schemeClr>
        </a:solidFill>
      </a:ln>
    </cs:spPr>
  </cs:gridlineMajor>
  <cs:gridlineMinor>
    <cs:lnRef idx="0"/>
    <cs:fillRef idx="0"/>
    <cs:effectRef idx="0"/>
    <cs:fontRef idx="minor">
      <a:schemeClr val="tx1"/>
    </cs:fontRef>
    <cs:spPr>
      <a:ln w="9525">
        <a:solidFill>
          <a:schemeClr val="lt1">
            <a:lumMod val="40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5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/>
    </cs:fontRef>
    <cs:defRPr sz="2200" b="0" kern="1200" cap="all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sp3d/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pattFill prst="ltDn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>
        <a:solidFill>
          <a:schemeClr val="phClr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/>
      </a:solidFill>
      <a:sp3d/>
    </cs:spPr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8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pattFill prst="ltDn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>
        <a:solidFill>
          <a:schemeClr val="phClr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/>
      </a:solidFill>
      <a:sp3d/>
    </cs:spPr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8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pattFill prst="ltDn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>
        <a:solidFill>
          <a:schemeClr val="phClr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/>
      </a:solidFill>
      <a:sp3d/>
    </cs:spPr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89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5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101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0A268F-5502-46C8-8DFF-7D93E116E2B6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61D630-061E-49C9-84A2-4E77A779AB65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DC35-03E3-47C2-9509-86475CFD926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A0A37-38DA-42D9-81A6-12F79ADA5B3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DC35-03E3-47C2-9509-86475CFD926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A0A37-38DA-42D9-81A6-12F79ADA5B3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DC35-03E3-47C2-9509-86475CFD926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A0A37-38DA-42D9-81A6-12F79ADA5B3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DC35-03E3-47C2-9509-86475CFD926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A0A37-38DA-42D9-81A6-12F79ADA5B3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DC35-03E3-47C2-9509-86475CFD9260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A0A37-38DA-42D9-81A6-12F79ADA5B3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DC35-03E3-47C2-9509-86475CFD9260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A0A37-38DA-42D9-81A6-12F79ADA5B3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DC35-03E3-47C2-9509-86475CFD9260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A0A37-38DA-42D9-81A6-12F79ADA5B3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DC35-03E3-47C2-9509-86475CFD926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A0A37-38DA-42D9-81A6-12F79ADA5B3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DC35-03E3-47C2-9509-86475CFD9260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A0A37-38DA-42D9-81A6-12F79ADA5B3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DC35-03E3-47C2-9509-86475CFD926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A0A37-38DA-42D9-81A6-12F79ADA5B3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DC35-03E3-47C2-9509-86475CFD926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A0A37-38DA-42D9-81A6-12F79ADA5B3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DC35-03E3-47C2-9509-86475CFD926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A0A37-38DA-42D9-81A6-12F79ADA5B3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E2DC35-03E3-47C2-9509-86475CFD9260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AA0A37-38DA-42D9-81A6-12F79ADA5B31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www.bing.com/ck/a?!&amp;&amp;p=781180baf8f084b87e05073652b9bf0e3672d3f5cb7b1ecc41bece0ab31d7a8eJmltdHM9MTc2MDU3MjgwMA&amp;ptn=3&amp;ver=2&amp;hsh=4&amp;fclid=09699053-bca9-6bc5-1777-8613bdfe6a10&amp;psq=slogan+for+insurance+company&amp;u=a1aHR0cHM6Ly9zbG9nYW5zaHViLm9yZy9iZXN0LWluc3VyYW5jZS1zbG9nYW5zLw&amp;ntb=1" TargetMode="Externa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jpeg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jpe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1.jpeg"/><Relationship Id="rId2" Type="http://schemas.openxmlformats.org/officeDocument/2006/relationships/chart" Target="../charts/chart6.xml"/><Relationship Id="rId1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chart" Target="../charts/char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5690" y="111966"/>
            <a:ext cx="10154816" cy="895739"/>
          </a:xfrm>
        </p:spPr>
        <p:txBody>
          <a:bodyPr>
            <a:prstTxWarp prst="textTriangle">
              <a:avLst/>
            </a:prstTxWarp>
            <a:normAutofit fontScale="90000"/>
          </a:bodyPr>
          <a:lstStyle/>
          <a:p>
            <a:r>
              <a:rPr lang="en-US" b="1" dirty="0">
                <a:ln w="12700">
                  <a:solidFill>
                    <a:schemeClr val="accent6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  <a:reflection blurRad="6350" stA="55000" endA="300" endPos="45500" dir="5400000" sy="-100000" algn="bl" rotWithShape="0"/>
                </a:effectLst>
              </a:rPr>
              <a:t>UNIVERSAL LIFE INSURANCE PVT</a:t>
            </a:r>
            <a:endParaRPr lang="en-IN" b="1" dirty="0">
              <a:ln w="12700">
                <a:solidFill>
                  <a:schemeClr val="accent6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glow rad="139700">
                  <a:schemeClr val="accent6">
                    <a:satMod val="175000"/>
                    <a:alpha val="40000"/>
                  </a:schemeClr>
                </a:glow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06351" y="1974400"/>
            <a:ext cx="5063412" cy="456779"/>
          </a:xfrm>
        </p:spPr>
        <p:txBody>
          <a:bodyPr>
            <a:normAutofit fontScale="92500"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TITLE: INSURANCE DATA ANALYSIS </a:t>
            </a:r>
            <a:endParaRPr lang="en-IN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5690" cy="53648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06351" y="2504493"/>
            <a:ext cx="52780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SUBTITLE: OVERVIEW OF DEMOGRAPHICS AND CHARGES</a:t>
            </a:r>
            <a:endParaRPr lang="en-IN" sz="2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06351" y="3482117"/>
            <a:ext cx="53761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PRESENTED BY ANURAG BHARGAV</a:t>
            </a:r>
            <a:endParaRPr lang="en-IN" sz="24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06351" y="3999110"/>
            <a:ext cx="451421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DATE: NOVEMBER ,21, 2025</a:t>
            </a:r>
            <a:endParaRPr lang="en-IN" sz="24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06040" y="4593590"/>
            <a:ext cx="771144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u="none" strike="noStrike" dirty="0">
                <a:ln w="22225">
                  <a:solidFill>
                    <a:schemeClr val="tx2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Roboto" panose="020F0502020204030204" pitchFamily="2" charset="0"/>
                <a:hlinkClick r:id="rId2"/>
              </a:rPr>
              <a:t>"No one can surely predict the future. But we can protect it." </a:t>
            </a:r>
            <a:endParaRPr lang="en-IN" sz="3600" b="1" dirty="0">
              <a:ln w="22225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2204" y="5126998"/>
            <a:ext cx="699796" cy="1731002"/>
          </a:xfrm>
          <a:prstGeom prst="rect">
            <a:avLst/>
          </a:prstGeom>
        </p:spPr>
      </p:pic>
      <p:sp>
        <p:nvSpPr>
          <p:cNvPr id="4" name="Rectangle: Rounded Corners 3"/>
          <p:cNvSpPr/>
          <p:nvPr/>
        </p:nvSpPr>
        <p:spPr>
          <a:xfrm>
            <a:off x="11770567" y="-102636"/>
            <a:ext cx="143069" cy="512699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438539" y="0"/>
            <a:ext cx="143069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3704156" y="214603"/>
            <a:ext cx="4887877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perspectiveLeft"/>
              <a:lightRig rig="threePt" dir="t"/>
            </a:scene3d>
          </a:bodyPr>
          <a:lstStyle/>
          <a:p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DATASET</a:t>
            </a:r>
            <a:r>
              <a:rPr lang="en-US" sz="4000" b="1" dirty="0"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OVERVIEW</a:t>
            </a:r>
            <a:endParaRPr lang="en-IN" sz="4000" b="1" dirty="0">
              <a:effectLst>
                <a:glow rad="139700">
                  <a:schemeClr val="accent6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36914" y="1651518"/>
            <a:ext cx="57511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TOTAL RECORDS: 1,338 ENTRIES</a:t>
            </a:r>
            <a:endParaRPr lang="en-IN" sz="28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36914" y="2365724"/>
            <a:ext cx="2004588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Right"/>
              <a:lightRig rig="threePt" dir="t"/>
            </a:scene3d>
          </a:bodyPr>
          <a:lstStyle/>
          <a:p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COLUMNS:</a:t>
            </a:r>
            <a:endParaRPr lang="en-IN" sz="28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36914" y="2790682"/>
            <a:ext cx="3119998" cy="3538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endParaRPr lang="en-US" sz="2800" b="1" dirty="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glow rad="139700">
                  <a:schemeClr val="accent4">
                    <a:satMod val="175000"/>
                    <a:alpha val="40000"/>
                  </a:schemeClr>
                </a:glow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GANDER</a:t>
            </a:r>
            <a:endParaRPr lang="en-US" sz="2800" b="1" dirty="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glow rad="139700">
                  <a:schemeClr val="accent4">
                    <a:satMod val="175000"/>
                    <a:alpha val="40000"/>
                  </a:schemeClr>
                </a:glow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BOADY MASS INDEX (BMI)</a:t>
            </a:r>
            <a:endParaRPr lang="en-US" sz="2800" b="1" dirty="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glow rad="139700">
                  <a:schemeClr val="accent4">
                    <a:satMod val="175000"/>
                    <a:alpha val="40000"/>
                  </a:schemeClr>
                </a:glow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SMOKER STATUS</a:t>
            </a:r>
            <a:endParaRPr lang="en-US" sz="2800" b="1" dirty="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glow rad="139700">
                  <a:schemeClr val="accent4">
                    <a:satMod val="175000"/>
                    <a:alpha val="40000"/>
                  </a:schemeClr>
                </a:glow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REGION</a:t>
            </a:r>
            <a:endParaRPr lang="en-US" sz="2800" b="1" dirty="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glow rad="139700">
                  <a:schemeClr val="accent4">
                    <a:satMod val="175000"/>
                    <a:alpha val="40000"/>
                  </a:schemeClr>
                </a:glow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CHARGES</a:t>
            </a:r>
            <a:endParaRPr lang="en-IN" sz="2800" b="1" dirty="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glow rad="139700">
                  <a:schemeClr val="accent4">
                    <a:satMod val="175000"/>
                    <a:alpha val="40000"/>
                  </a:schemeClr>
                </a:glow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amond 2"/>
          <p:cNvSpPr/>
          <p:nvPr/>
        </p:nvSpPr>
        <p:spPr>
          <a:xfrm>
            <a:off x="0" y="0"/>
            <a:ext cx="839755" cy="839755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Diamond 3"/>
          <p:cNvSpPr/>
          <p:nvPr/>
        </p:nvSpPr>
        <p:spPr>
          <a:xfrm>
            <a:off x="267477" y="1460236"/>
            <a:ext cx="450980" cy="527184"/>
          </a:xfrm>
          <a:prstGeom prst="diamond">
            <a:avLst/>
          </a:prstGeom>
          <a:solidFill>
            <a:srgbClr val="C04F1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iamond 4"/>
          <p:cNvSpPr/>
          <p:nvPr/>
        </p:nvSpPr>
        <p:spPr>
          <a:xfrm>
            <a:off x="0" y="897294"/>
            <a:ext cx="534955" cy="594054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iamond 5"/>
          <p:cNvSpPr/>
          <p:nvPr/>
        </p:nvSpPr>
        <p:spPr>
          <a:xfrm>
            <a:off x="11582399" y="1460236"/>
            <a:ext cx="379445" cy="401219"/>
          </a:xfrm>
          <a:prstGeom prst="diamond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iamond 6"/>
          <p:cNvSpPr/>
          <p:nvPr/>
        </p:nvSpPr>
        <p:spPr>
          <a:xfrm>
            <a:off x="11657045" y="869302"/>
            <a:ext cx="534955" cy="550506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8" name="Diamond 7"/>
          <p:cNvSpPr/>
          <p:nvPr/>
        </p:nvSpPr>
        <p:spPr>
          <a:xfrm>
            <a:off x="11352245" y="0"/>
            <a:ext cx="839755" cy="839755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ight Triangle 8"/>
          <p:cNvSpPr/>
          <p:nvPr/>
        </p:nvSpPr>
        <p:spPr>
          <a:xfrm>
            <a:off x="0" y="5831633"/>
            <a:ext cx="1380932" cy="1063690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2204" y="5126998"/>
            <a:ext cx="699796" cy="173100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231645" y="312519"/>
            <a:ext cx="5386070" cy="5219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DEMOGRAPHIC DISTRIBUTION</a:t>
            </a:r>
            <a:endParaRPr lang="en-IN" sz="2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graphicFrame>
        <p:nvGraphicFramePr>
          <p:cNvPr id="13" name="Chart 12"/>
          <p:cNvGraphicFramePr/>
          <p:nvPr/>
        </p:nvGraphicFramePr>
        <p:xfrm>
          <a:off x="802432" y="3842999"/>
          <a:ext cx="4598435" cy="26757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4" name="Chart 13"/>
          <p:cNvGraphicFramePr/>
          <p:nvPr/>
        </p:nvGraphicFramePr>
        <p:xfrm>
          <a:off x="802432" y="954833"/>
          <a:ext cx="4598435" cy="29214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Chart 16"/>
          <p:cNvGraphicFramePr/>
          <p:nvPr/>
        </p:nvGraphicFramePr>
        <p:xfrm>
          <a:off x="5400867" y="957941"/>
          <a:ext cx="6091337" cy="55940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186612"/>
            <a:ext cx="12192000" cy="335902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0" y="5990253"/>
            <a:ext cx="12192000" cy="4198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2204" y="5126998"/>
            <a:ext cx="699796" cy="1731002"/>
          </a:xfrm>
          <a:prstGeom prst="rect">
            <a:avLst/>
          </a:prstGeom>
        </p:spPr>
      </p:pic>
      <p:pic>
        <p:nvPicPr>
          <p:cNvPr id="1026" name="Picture 2" descr="Young man and woman standing on white background Vector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051" y="685799"/>
            <a:ext cx="6191898" cy="5302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: Rounded Corners 16"/>
          <p:cNvSpPr/>
          <p:nvPr/>
        </p:nvSpPr>
        <p:spPr>
          <a:xfrm>
            <a:off x="2806959" y="5568045"/>
            <a:ext cx="6578082" cy="419878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/>
          <p:cNvSpPr txBox="1"/>
          <p:nvPr/>
        </p:nvSpPr>
        <p:spPr>
          <a:xfrm>
            <a:off x="260985" y="772795"/>
            <a:ext cx="37966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TOTAL </a:t>
            </a:r>
            <a:r>
              <a:rPr lang="en-US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MALE</a:t>
            </a:r>
            <a:r>
              <a:rPr lang="en-US" sz="2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: 676</a:t>
            </a:r>
            <a:endParaRPr lang="en-US" sz="28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20615" y="659942"/>
            <a:ext cx="3321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TOTAL FEMALE: 662</a:t>
            </a:r>
            <a:endParaRPr lang="en-IN" sz="28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1257" y="1665866"/>
            <a:ext cx="3345531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NORTH EAST: 113</a:t>
            </a:r>
            <a:endParaRPr lang="en-US" sz="2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endParaRPr lang="en-US" sz="2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r>
              <a:rPr lang="en-US" sz="2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NORTH WEAST: 161</a:t>
            </a:r>
            <a:endParaRPr lang="en-US" sz="2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endParaRPr lang="en-US" sz="2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r>
              <a:rPr lang="en-US" sz="2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SOUTH EAST: 189</a:t>
            </a:r>
            <a:endParaRPr lang="en-US" sz="2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endParaRPr lang="en-US" sz="2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r>
              <a:rPr lang="en-US" sz="2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SOUTH WEAST: 163</a:t>
            </a:r>
            <a:endParaRPr lang="en-IN" sz="2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65857" y="1572007"/>
            <a:ext cx="334553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NORTH EAST: 161</a:t>
            </a:r>
            <a:endParaRPr lang="en-US" sz="2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endParaRPr lang="en-US" sz="2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r>
              <a:rPr lang="en-US" sz="2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NORTH WEAST: 164</a:t>
            </a:r>
            <a:endParaRPr lang="en-US" sz="2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endParaRPr lang="en-US" sz="2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r>
              <a:rPr lang="en-US" sz="2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SOUTH EAST: 175</a:t>
            </a:r>
            <a:endParaRPr lang="en-US" sz="2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endParaRPr lang="en-US" sz="2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r>
              <a:rPr lang="en-US" sz="2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SOUTH WEAST: 162</a:t>
            </a:r>
            <a:endParaRPr lang="en-IN" sz="2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endParaRPr lang="en-IN" sz="28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Airplane with solid fil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9930882" y="0"/>
            <a:ext cx="914400" cy="914400"/>
          </a:xfrm>
          <a:prstGeom prst="rect">
            <a:avLst/>
          </a:prstGeom>
        </p:spPr>
      </p:pic>
      <p:sp>
        <p:nvSpPr>
          <p:cNvPr id="4" name="Rectangle: Rounded Corners 3"/>
          <p:cNvSpPr/>
          <p:nvPr/>
        </p:nvSpPr>
        <p:spPr>
          <a:xfrm>
            <a:off x="0" y="326571"/>
            <a:ext cx="10030408" cy="289249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/>
          <p:cNvSpPr/>
          <p:nvPr/>
        </p:nvSpPr>
        <p:spPr>
          <a:xfrm>
            <a:off x="0" y="335901"/>
            <a:ext cx="1810139" cy="28924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/>
          <p:cNvSpPr/>
          <p:nvPr/>
        </p:nvSpPr>
        <p:spPr>
          <a:xfrm>
            <a:off x="2438400" y="335901"/>
            <a:ext cx="1810139" cy="28924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/>
          <p:cNvSpPr/>
          <p:nvPr/>
        </p:nvSpPr>
        <p:spPr>
          <a:xfrm>
            <a:off x="4906348" y="335901"/>
            <a:ext cx="1810139" cy="289249"/>
          </a:xfrm>
          <a:prstGeom prst="roundRect">
            <a:avLst/>
          </a:prstGeom>
          <a:solidFill>
            <a:srgbClr val="D86E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/>
          <p:cNvSpPr/>
          <p:nvPr/>
        </p:nvSpPr>
        <p:spPr>
          <a:xfrm>
            <a:off x="7403844" y="335901"/>
            <a:ext cx="1810139" cy="28924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0845282" y="335901"/>
            <a:ext cx="1168659" cy="28924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ight Triangle 9"/>
          <p:cNvSpPr/>
          <p:nvPr/>
        </p:nvSpPr>
        <p:spPr>
          <a:xfrm>
            <a:off x="0" y="5010541"/>
            <a:ext cx="4516016" cy="1875453"/>
          </a:xfrm>
          <a:prstGeom prst="rtTriangl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2204" y="5126998"/>
            <a:ext cx="699796" cy="1731002"/>
          </a:xfrm>
          <a:prstGeom prst="rect">
            <a:avLst/>
          </a:prstGeom>
        </p:spPr>
      </p:pic>
      <p:graphicFrame>
        <p:nvGraphicFramePr>
          <p:cNvPr id="17" name="Chart 16"/>
          <p:cNvGraphicFramePr/>
          <p:nvPr/>
        </p:nvGraphicFramePr>
        <p:xfrm>
          <a:off x="3002383" y="961051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28261" y="2044005"/>
            <a:ext cx="18101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REGION </a:t>
            </a:r>
            <a:endParaRPr lang="en-US" sz="32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r>
              <a:rPr lang="en-US" sz="32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  WISE</a:t>
            </a:r>
            <a:endParaRPr lang="en-US" sz="32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  <a:p>
            <a:r>
              <a:rPr lang="en-US" sz="32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  SALES</a:t>
            </a:r>
            <a:endParaRPr lang="en-US" sz="32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9755" y="66247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2204" y="5126998"/>
            <a:ext cx="699796" cy="1731002"/>
          </a:xfrm>
          <a:prstGeom prst="rect">
            <a:avLst/>
          </a:prstGeom>
        </p:spPr>
      </p:pic>
      <p:pic>
        <p:nvPicPr>
          <p:cNvPr id="12" name="3D Model 11" descr="Skydiver Male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236" y="824378"/>
            <a:ext cx="608684" cy="1959200"/>
          </a:xfrm>
          <a:prstGeom prst="rect">
            <a:avLst/>
          </a:prstGeom>
        </p:spPr>
      </p:pic>
      <p:graphicFrame>
        <p:nvGraphicFramePr>
          <p:cNvPr id="15" name="Chart 14"/>
          <p:cNvGraphicFramePr/>
          <p:nvPr/>
        </p:nvGraphicFramePr>
        <p:xfrm>
          <a:off x="153075" y="-90721"/>
          <a:ext cx="9834466" cy="30485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6" name="Rectangle: Rounded Corners 15"/>
          <p:cNvSpPr/>
          <p:nvPr/>
        </p:nvSpPr>
        <p:spPr>
          <a:xfrm>
            <a:off x="0" y="3069771"/>
            <a:ext cx="12192000" cy="9541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3D Model 16" descr="Caroler in Long Coat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486" y="3997274"/>
            <a:ext cx="825874" cy="24909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143861" y="229033"/>
            <a:ext cx="4167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</a:t>
            </a:r>
            <a:endParaRPr lang="en-US" sz="3200" b="1" dirty="0"/>
          </a:p>
          <a:p>
            <a:r>
              <a:rPr lang="en-US" sz="4000" b="1" dirty="0"/>
              <a:t>A</a:t>
            </a:r>
            <a:endParaRPr lang="en-US" sz="4000" b="1" dirty="0"/>
          </a:p>
          <a:p>
            <a:r>
              <a:rPr lang="en-US" sz="4400" b="1" dirty="0"/>
              <a:t>L</a:t>
            </a:r>
            <a:endParaRPr lang="en-US" sz="4400" b="1" dirty="0"/>
          </a:p>
          <a:p>
            <a:r>
              <a:rPr lang="en-US" sz="4400" b="1" dirty="0"/>
              <a:t>E</a:t>
            </a:r>
            <a:endParaRPr lang="en-US" sz="4400" b="1" dirty="0"/>
          </a:p>
        </p:txBody>
      </p:sp>
      <p:graphicFrame>
        <p:nvGraphicFramePr>
          <p:cNvPr id="21" name="Chart 20"/>
          <p:cNvGraphicFramePr/>
          <p:nvPr/>
        </p:nvGraphicFramePr>
        <p:xfrm>
          <a:off x="2178633" y="3284376"/>
          <a:ext cx="9248437" cy="33548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31272" y="3292818"/>
            <a:ext cx="521297" cy="3354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F</a:t>
            </a:r>
            <a:endParaRPr lang="en-US" sz="3600" b="1" dirty="0"/>
          </a:p>
          <a:p>
            <a:r>
              <a:rPr lang="en-US" sz="3600" b="1" dirty="0"/>
              <a:t>E</a:t>
            </a:r>
            <a:endParaRPr lang="en-US" sz="3600" b="1" dirty="0"/>
          </a:p>
          <a:p>
            <a:r>
              <a:rPr lang="en-US" sz="3200" b="1" dirty="0"/>
              <a:t>M</a:t>
            </a:r>
            <a:endParaRPr lang="en-US" sz="3200" b="1" dirty="0"/>
          </a:p>
          <a:p>
            <a:r>
              <a:rPr lang="en-US" sz="3600" b="1" dirty="0"/>
              <a:t>A</a:t>
            </a:r>
            <a:endParaRPr lang="en-US" sz="3600" b="1" dirty="0"/>
          </a:p>
          <a:p>
            <a:r>
              <a:rPr lang="en-US" sz="3600" b="1" dirty="0"/>
              <a:t>L</a:t>
            </a:r>
            <a:endParaRPr lang="en-US" sz="3600" b="1" dirty="0"/>
          </a:p>
          <a:p>
            <a:r>
              <a:rPr lang="en-US" sz="3600" b="1" dirty="0"/>
              <a:t>E</a:t>
            </a:r>
            <a:endParaRPr lang="en-IN" sz="3600" b="1" dirty="0"/>
          </a:p>
        </p:txBody>
      </p:sp>
      <p:sp>
        <p:nvSpPr>
          <p:cNvPr id="23" name="Callout: Down Arrow 22"/>
          <p:cNvSpPr/>
          <p:nvPr/>
        </p:nvSpPr>
        <p:spPr>
          <a:xfrm>
            <a:off x="7072604" y="101966"/>
            <a:ext cx="2995126" cy="309152"/>
          </a:xfrm>
          <a:prstGeom prst="down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AVG.CHARGES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Callout: Down Arrow 23"/>
          <p:cNvSpPr/>
          <p:nvPr/>
        </p:nvSpPr>
        <p:spPr>
          <a:xfrm>
            <a:off x="8136293" y="3243998"/>
            <a:ext cx="2995126" cy="309152"/>
          </a:xfrm>
          <a:prstGeom prst="down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AVG.CHARGES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2204" y="5126998"/>
            <a:ext cx="699796" cy="1731002"/>
          </a:xfrm>
          <a:prstGeom prst="rect">
            <a:avLst/>
          </a:prstGeom>
        </p:spPr>
      </p:pic>
      <p:sp>
        <p:nvSpPr>
          <p:cNvPr id="6" name="Frame 5"/>
          <p:cNvSpPr/>
          <p:nvPr/>
        </p:nvSpPr>
        <p:spPr>
          <a:xfrm>
            <a:off x="-9331" y="6001829"/>
            <a:ext cx="989045" cy="865501"/>
          </a:xfrm>
          <a:prstGeom prst="fram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7" name="Frame 6"/>
          <p:cNvSpPr/>
          <p:nvPr/>
        </p:nvSpPr>
        <p:spPr>
          <a:xfrm>
            <a:off x="11212286" y="-9331"/>
            <a:ext cx="989045" cy="865501"/>
          </a:xfrm>
          <a:prstGeom prst="fram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Half Frame 7"/>
          <p:cNvSpPr/>
          <p:nvPr/>
        </p:nvSpPr>
        <p:spPr>
          <a:xfrm>
            <a:off x="0" y="0"/>
            <a:ext cx="11299371" cy="746450"/>
          </a:xfrm>
          <a:prstGeom prst="halfFram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81135"/>
            <a:ext cx="251927" cy="5311363"/>
          </a:xfrm>
          <a:prstGeom prst="rect">
            <a:avLst/>
          </a:prstGeom>
          <a:solidFill>
            <a:srgbClr val="F6C6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5" name="Chart 4"/>
          <p:cNvGraphicFramePr/>
          <p:nvPr/>
        </p:nvGraphicFramePr>
        <p:xfrm>
          <a:off x="2032000" y="1234060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9" name="3D Model 8" descr="Skydiver Male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923" y="974820"/>
            <a:ext cx="681309" cy="1947770"/>
          </a:xfrm>
          <a:prstGeom prst="rect">
            <a:avLst/>
          </a:prstGeom>
        </p:spPr>
      </p:pic>
      <p:pic>
        <p:nvPicPr>
          <p:cNvPr id="11" name="3D Model 10" descr="Skydiver Male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67" y="202858"/>
            <a:ext cx="552108" cy="1578404"/>
          </a:xfrm>
          <a:prstGeom prst="rect">
            <a:avLst/>
          </a:prstGeom>
        </p:spPr>
      </p:pic>
      <p:pic>
        <p:nvPicPr>
          <p:cNvPr id="12" name="3D Model 11" descr="Skydiver Male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3132" y="1865582"/>
            <a:ext cx="681310" cy="1947771"/>
          </a:xfrm>
          <a:prstGeom prst="rect">
            <a:avLst/>
          </a:prstGeom>
        </p:spPr>
      </p:pic>
      <p:pic>
        <p:nvPicPr>
          <p:cNvPr id="13" name="3D Model 12" descr="Skydiver Male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6075" y="1836606"/>
            <a:ext cx="716727" cy="2049026"/>
          </a:xfrm>
          <a:prstGeom prst="rect">
            <a:avLst/>
          </a:prstGeom>
        </p:spPr>
      </p:pic>
      <p:pic>
        <p:nvPicPr>
          <p:cNvPr id="22" name="3D Model 21" descr="Caroler in Long Coat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7003" y="1781410"/>
            <a:ext cx="1003090" cy="1947770"/>
          </a:xfrm>
          <a:prstGeom prst="rect">
            <a:avLst/>
          </a:prstGeom>
        </p:spPr>
      </p:pic>
      <p:pic>
        <p:nvPicPr>
          <p:cNvPr id="23" name="3D Model 22" descr="Caroler in Long Coat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5016" y="1781410"/>
            <a:ext cx="1003090" cy="1947770"/>
          </a:xfrm>
          <a:prstGeom prst="rect">
            <a:avLst/>
          </a:prstGeom>
        </p:spPr>
      </p:pic>
      <p:pic>
        <p:nvPicPr>
          <p:cNvPr id="24" name="3D Model 23" descr="Caroler in Long Coat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7419" y="373225"/>
            <a:ext cx="1003090" cy="1947770"/>
          </a:xfrm>
          <a:prstGeom prst="rect">
            <a:avLst/>
          </a:prstGeom>
        </p:spPr>
      </p:pic>
      <p:pic>
        <p:nvPicPr>
          <p:cNvPr id="25" name="3D Model 24" descr="Caroler in Long Coat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1250" y="1481230"/>
            <a:ext cx="1003090" cy="19477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3937" y="1919588"/>
            <a:ext cx="139538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b="1" dirty="0"/>
              <a:t>BODY</a:t>
            </a:r>
            <a:endParaRPr lang="en-US" sz="36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563245" y="824865"/>
            <a:ext cx="1421765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600" b="1" dirty="0"/>
              <a:t>A V G</a:t>
            </a:r>
            <a:endParaRPr lang="en-US" sz="36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614418" y="3014148"/>
            <a:ext cx="139974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b="1" dirty="0"/>
              <a:t>MASS</a:t>
            </a:r>
            <a:endParaRPr lang="en-US" sz="36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0160000" y="745713"/>
            <a:ext cx="753732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5400" b="1" dirty="0"/>
              <a:t>B</a:t>
            </a:r>
            <a:endParaRPr lang="en-US" sz="5400" b="1" dirty="0"/>
          </a:p>
          <a:p>
            <a:r>
              <a:rPr lang="en-US" sz="5400" b="1" dirty="0"/>
              <a:t>D</a:t>
            </a:r>
            <a:endParaRPr lang="en-US" sz="5400" b="1" dirty="0"/>
          </a:p>
          <a:p>
            <a:r>
              <a:rPr lang="en-US" sz="5400" b="1" dirty="0"/>
              <a:t>M</a:t>
            </a:r>
            <a:endParaRPr lang="en-US" sz="5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10160000" y="3331634"/>
            <a:ext cx="753732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6600" dirty="0"/>
              <a:t> I</a:t>
            </a:r>
            <a:endParaRPr lang="en-IN" sz="6600" dirty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10149620" y="2455115"/>
            <a:ext cx="7537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160000" y="1645372"/>
            <a:ext cx="7537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52702" y="4103869"/>
            <a:ext cx="152317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b="1" dirty="0"/>
              <a:t>INDEX</a:t>
            </a:r>
            <a:endParaRPr lang="en-IN" sz="36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agonal Stripe 2"/>
          <p:cNvSpPr/>
          <p:nvPr/>
        </p:nvSpPr>
        <p:spPr>
          <a:xfrm>
            <a:off x="0" y="0"/>
            <a:ext cx="1474237" cy="1343608"/>
          </a:xfrm>
          <a:prstGeom prst="diagStripe">
            <a:avLst>
              <a:gd name="adj" fmla="val 49306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" name="Diagonal Stripe 3"/>
          <p:cNvSpPr/>
          <p:nvPr/>
        </p:nvSpPr>
        <p:spPr>
          <a:xfrm rot="5685420">
            <a:off x="10604753" y="-207461"/>
            <a:ext cx="1463650" cy="1900512"/>
          </a:xfrm>
          <a:prstGeom prst="diagStripe">
            <a:avLst>
              <a:gd name="adj" fmla="val 52218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2204" y="5126998"/>
            <a:ext cx="699796" cy="173100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-9334" y="6372812"/>
            <a:ext cx="11408228" cy="4851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2" name="Chart 11"/>
          <p:cNvGraphicFramePr/>
          <p:nvPr/>
        </p:nvGraphicFramePr>
        <p:xfrm>
          <a:off x="1755140" y="349885"/>
          <a:ext cx="8681720" cy="4914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3" name="TextBox 12"/>
          <p:cNvSpPr txBox="1"/>
          <p:nvPr/>
        </p:nvSpPr>
        <p:spPr>
          <a:xfrm rot="16200000">
            <a:off x="-96365" y="2613057"/>
            <a:ext cx="247586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IN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REGION</a:t>
            </a:r>
            <a:endParaRPr lang="en-US" altLang="en-IN" sz="48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glow rad="139700">
                  <a:schemeClr val="accent6">
                    <a:satMod val="175000"/>
                    <a:alpha val="40000"/>
                  </a:schemeClr>
                </a:glow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51349" y="5265007"/>
            <a:ext cx="35053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CHARGES</a:t>
            </a:r>
            <a:endParaRPr lang="en-IN" sz="4800" b="1" dirty="0">
              <a:effectLst>
                <a:glow rad="139700">
                  <a:schemeClr val="accent6">
                    <a:satMod val="175000"/>
                    <a:alpha val="40000"/>
                  </a:schemeClr>
                </a:glow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15" name="Frame 14"/>
          <p:cNvSpPr/>
          <p:nvPr/>
        </p:nvSpPr>
        <p:spPr>
          <a:xfrm>
            <a:off x="-9334" y="4963886"/>
            <a:ext cx="1287625" cy="1408926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" name="Lightning Bolt 15"/>
          <p:cNvSpPr/>
          <p:nvPr/>
        </p:nvSpPr>
        <p:spPr>
          <a:xfrm>
            <a:off x="11732835" y="-65314"/>
            <a:ext cx="491408" cy="811763"/>
          </a:xfrm>
          <a:prstGeom prst="lightningBol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Lightning Bolt 16"/>
          <p:cNvSpPr/>
          <p:nvPr/>
        </p:nvSpPr>
        <p:spPr>
          <a:xfrm rot="3902476">
            <a:off x="-19717" y="-103678"/>
            <a:ext cx="466553" cy="688267"/>
          </a:xfrm>
          <a:prstGeom prst="lightningBol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Lightning Bolt 17"/>
          <p:cNvSpPr/>
          <p:nvPr/>
        </p:nvSpPr>
        <p:spPr>
          <a:xfrm>
            <a:off x="269393" y="5183274"/>
            <a:ext cx="784965" cy="982242"/>
          </a:xfrm>
          <a:prstGeom prst="lightningBol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3D Model 18" descr="C7 tuner car orange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291" y="5612378"/>
            <a:ext cx="2842916" cy="767058"/>
          </a:xfrm>
          <a:prstGeom prst="rect">
            <a:avLst/>
          </a:prstGeom>
        </p:spPr>
      </p:pic>
      <p:sp>
        <p:nvSpPr>
          <p:cNvPr id="23" name="Callout: Up Arrow 22"/>
          <p:cNvSpPr/>
          <p:nvPr/>
        </p:nvSpPr>
        <p:spPr>
          <a:xfrm rot="16200000">
            <a:off x="10115167" y="2451872"/>
            <a:ext cx="2015345" cy="974035"/>
          </a:xfrm>
          <a:prstGeom prst="up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AVG CHARGE</a:t>
            </a:r>
            <a:endParaRPr lang="en-IN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s 1"/>
          <p:cNvSpPr/>
          <p:nvPr/>
        </p:nvSpPr>
        <p:spPr>
          <a:xfrm>
            <a:off x="850900" y="424815"/>
            <a:ext cx="10632440" cy="191135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5-Point Star 2"/>
          <p:cNvSpPr/>
          <p:nvPr/>
        </p:nvSpPr>
        <p:spPr>
          <a:xfrm>
            <a:off x="83820" y="0"/>
            <a:ext cx="509270" cy="768985"/>
          </a:xfrm>
          <a:prstGeom prst="star5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5-Point Star 3"/>
          <p:cNvSpPr/>
          <p:nvPr/>
        </p:nvSpPr>
        <p:spPr>
          <a:xfrm>
            <a:off x="11682730" y="0"/>
            <a:ext cx="509270" cy="768985"/>
          </a:xfrm>
          <a:prstGeom prst="star5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2349500" y="928370"/>
            <a:ext cx="7853045" cy="5507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44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EVER ONE MUST BUY         TEARM INSURANCE ,         HEALTH INSURANCE                             AND                                               LIFE INSURANCE                          FOR SECURED OUR FUTURE    AND                                                   ALSO OUR FAMILY FUTURE </a:t>
            </a:r>
            <a:endParaRPr lang="en-US" sz="4400" b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6" name="L-Shape 5"/>
          <p:cNvSpPr/>
          <p:nvPr/>
        </p:nvSpPr>
        <p:spPr>
          <a:xfrm>
            <a:off x="0" y="5564505"/>
            <a:ext cx="1518285" cy="1293495"/>
          </a:xfrm>
          <a:prstGeom prst="corner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L-Shape 6"/>
          <p:cNvSpPr/>
          <p:nvPr/>
        </p:nvSpPr>
        <p:spPr>
          <a:xfrm rot="16200000">
            <a:off x="10786110" y="5452110"/>
            <a:ext cx="1518285" cy="1293495"/>
          </a:xfrm>
          <a:prstGeom prst="corner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2204" y="5126998"/>
            <a:ext cx="699796" cy="1731002"/>
          </a:xfrm>
          <a:prstGeom prst="rect">
            <a:avLst/>
          </a:prstGeom>
        </p:spPr>
      </p:pic>
      <p:sp>
        <p:nvSpPr>
          <p:cNvPr id="10" name="Curved Down Ribbon 9"/>
          <p:cNvSpPr/>
          <p:nvPr/>
        </p:nvSpPr>
        <p:spPr>
          <a:xfrm>
            <a:off x="1268730" y="2129155"/>
            <a:ext cx="9654540" cy="2301875"/>
          </a:xfrm>
          <a:prstGeom prst="ellipseRibbon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Flowchart: Terminator 11"/>
          <p:cNvSpPr/>
          <p:nvPr/>
        </p:nvSpPr>
        <p:spPr>
          <a:xfrm>
            <a:off x="0" y="6666865"/>
            <a:ext cx="11491595" cy="191135"/>
          </a:xfrm>
          <a:prstGeom prst="flowChartTerminator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3989705" y="2891155"/>
            <a:ext cx="42119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b="1"/>
              <a:t> THANK YOU FOR  ALL  PPT  IS  END  </a:t>
            </a:r>
            <a:r>
              <a:rPr lang="en-US" sz="3200" b="1"/>
              <a:t>  </a:t>
            </a:r>
            <a:endParaRPr lang="en-US" sz="3200" b="1"/>
          </a:p>
        </p:txBody>
      </p:sp>
      <p:sp>
        <p:nvSpPr>
          <p:cNvPr id="8" name="5-Point Star 7"/>
          <p:cNvSpPr/>
          <p:nvPr/>
        </p:nvSpPr>
        <p:spPr>
          <a:xfrm>
            <a:off x="2576830" y="2458720"/>
            <a:ext cx="943610" cy="1348105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4-Point Star 8"/>
          <p:cNvSpPr/>
          <p:nvPr/>
        </p:nvSpPr>
        <p:spPr>
          <a:xfrm>
            <a:off x="8754110" y="2753360"/>
            <a:ext cx="1102360" cy="1053465"/>
          </a:xfrm>
          <a:prstGeom prst="star4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Horizontal Scroll 13"/>
          <p:cNvSpPr/>
          <p:nvPr/>
        </p:nvSpPr>
        <p:spPr>
          <a:xfrm>
            <a:off x="179705" y="86995"/>
            <a:ext cx="11831320" cy="1368425"/>
          </a:xfrm>
          <a:prstGeom prst="horizontalScroll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520065" y="490220"/>
            <a:ext cx="111525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3600" b="1">
                <a:solidFill>
                  <a:schemeClr val="bg1"/>
                </a:solidFill>
              </a:rPr>
              <a:t>UNIVERSAL  LIFE  INSURANCE  COMPANY</a:t>
            </a:r>
            <a:endParaRPr lang="en-US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</p:transition>
    </mc:Choice>
    <mc:Fallback>
      <p:transition spd="med">
        <p:newsflash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968</Words>
  <Application>WPS Presentation</Application>
  <PresentationFormat>Widescreen</PresentationFormat>
  <Paragraphs>93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Roboto</vt:lpstr>
      <vt:lpstr>Times New Roman</vt:lpstr>
      <vt:lpstr>Aptos Display</vt:lpstr>
      <vt:lpstr>Segoe UI Variable Display</vt:lpstr>
      <vt:lpstr>Aptos</vt:lpstr>
      <vt:lpstr>Segoe UI</vt:lpstr>
      <vt:lpstr>Microsoft YaHei</vt:lpstr>
      <vt:lpstr>Arial Unicode MS</vt:lpstr>
      <vt:lpstr>Office Theme</vt:lpstr>
      <vt:lpstr>UNIVERSAL LIFE INSURANCE PVT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Anurag Bhargav</dc:creator>
  <cp:lastModifiedBy>Anurag Bhargav</cp:lastModifiedBy>
  <cp:revision>9</cp:revision>
  <dcterms:created xsi:type="dcterms:W3CDTF">2025-10-16T12:08:00Z</dcterms:created>
  <dcterms:modified xsi:type="dcterms:W3CDTF">2025-11-21T08:53:44Z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442C86B5E3DD42049A71C7D2C707AE01_13</vt:lpwstr>
  </property>
  <property fmtid="{D5CDD505-2E9C-101B-9397-08002B2CF9AE}" pid="3" name="KSOProductBuildVer">
    <vt:lpwstr>1033-12.2.0.23155</vt:lpwstr>
  </property>
</Properties>
</file>